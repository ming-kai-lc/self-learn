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  <p:sldMasterId id="2147483677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797675" cy="9874250"/>
  <p:embeddedFontLst>
    <p:embeddedFont>
      <p:font typeface="Aharoni" panose="02010803020104030203" pitchFamily="2" charset="-79"/>
      <p:bold r:id="rId16"/>
    </p:embeddedFont>
    <p:embeddedFont>
      <p:font typeface="Algerian" panose="04020705040A02060702" pitchFamily="82" charset="0"/>
      <p:regular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0550"/>
            <a:ext cx="4532000" cy="3702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6" name="Google Shape;3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1" name="Google Shape;3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25" cy="4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6" name="Google Shape;3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5537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2:notes"/>
          <p:cNvSpPr txBox="1">
            <a:spLocks noGrp="1"/>
          </p:cNvSpPr>
          <p:nvPr>
            <p:ph type="body" idx="1"/>
          </p:nvPr>
        </p:nvSpPr>
        <p:spPr>
          <a:xfrm>
            <a:off x="679750" y="4690250"/>
            <a:ext cx="5438100" cy="44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6" name="Google Shape;106;p14"/>
          <p:cNvSpPr txBox="1"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dt" idx="10"/>
          </p:nvPr>
        </p:nvSpPr>
        <p:spPr>
          <a:xfrm rot="5400000">
            <a:off x="7498080" y="182880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ftr" idx="11"/>
          </p:nvPr>
        </p:nvSpPr>
        <p:spPr>
          <a:xfrm rot="5400000">
            <a:off x="6236208" y="326440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6"/>
            <p:cNvSpPr/>
            <p:nvPr/>
          </p:nvSpPr>
          <p:spPr>
            <a:xfrm rot="-5400000">
              <a:off x="3105027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8" name="Google Shape;128;p16"/>
            <p:cNvSpPr/>
            <p:nvPr/>
          </p:nvSpPr>
          <p:spPr>
            <a:xfrm rot="-5912394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6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6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3636980" cy="3530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2"/>
          </p:nvPr>
        </p:nvSpPr>
        <p:spPr>
          <a:xfrm>
            <a:off x="4640581" y="2489203"/>
            <a:ext cx="363698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2"/>
          </p:nvPr>
        </p:nvSpPr>
        <p:spPr>
          <a:xfrm>
            <a:off x="866440" y="3248490"/>
            <a:ext cx="3636980" cy="2771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3"/>
          </p:nvPr>
        </p:nvSpPr>
        <p:spPr>
          <a:xfrm>
            <a:off x="4640581" y="2489200"/>
            <a:ext cx="3636979" cy="756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body" idx="4"/>
          </p:nvPr>
        </p:nvSpPr>
        <p:spPr>
          <a:xfrm>
            <a:off x="4640581" y="3245835"/>
            <a:ext cx="3636980" cy="2773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1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64" name="Google Shape;164;p2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 rot="-5400000">
              <a:off x="2548536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72" name="Google Shape;172;p21"/>
            <p:cNvSpPr/>
            <p:nvPr/>
          </p:nvSpPr>
          <p:spPr>
            <a:xfrm rot="-5912394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body" idx="1"/>
          </p:nvPr>
        </p:nvSpPr>
        <p:spPr>
          <a:xfrm>
            <a:off x="4568927" y="1447800"/>
            <a:ext cx="36328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body" idx="2"/>
          </p:nvPr>
        </p:nvSpPr>
        <p:spPr>
          <a:xfrm>
            <a:off x="866441" y="3086845"/>
            <a:ext cx="2712589" cy="293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83" name="Google Shape;183;p2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 rot="-5400000">
              <a:off x="2852610" y="1765596"/>
              <a:ext cx="5995993" cy="3326809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91" name="Google Shape;191;p22"/>
            <p:cNvSpPr/>
            <p:nvPr/>
          </p:nvSpPr>
          <p:spPr>
            <a:xfrm rot="-5912394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2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>
            <a:spLocks noGrp="1"/>
          </p:cNvSpPr>
          <p:nvPr>
            <p:ph type="pic" idx="2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866440" y="3086100"/>
            <a:ext cx="2987089" cy="24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96" name="Google Shape;196;p22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2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02" name="Google Shape;202;p2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3"/>
            <p:cNvSpPr/>
            <p:nvPr/>
          </p:nvSpPr>
          <p:spPr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3"/>
          <p:cNvSpPr>
            <a:spLocks noGrp="1"/>
          </p:cNvSpPr>
          <p:nvPr>
            <p:ph type="pic" idx="2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866440" y="5528192"/>
            <a:ext cx="6422004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5" name="Google Shape;215;p23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3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2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21" name="Google Shape;221;p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4"/>
            <p:cNvSpPr/>
            <p:nvPr/>
          </p:nvSpPr>
          <p:spPr>
            <a:xfrm rot="-589932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31" name="Google Shape;231;p24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4"/>
          <p:cNvSpPr txBox="1">
            <a:spLocks noGrp="1"/>
          </p:cNvSpPr>
          <p:nvPr>
            <p:ph type="body" idx="1"/>
          </p:nvPr>
        </p:nvSpPr>
        <p:spPr>
          <a:xfrm>
            <a:off x="866440" y="3488023"/>
            <a:ext cx="6422005" cy="253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33" name="Google Shape;233;p24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4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39" name="Google Shape;239;p2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 rot="-589932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5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48" name="Google Shape;248;p25"/>
          <p:cNvSpPr txBox="1"/>
          <p:nvPr/>
        </p:nvSpPr>
        <p:spPr>
          <a:xfrm>
            <a:off x="647430" y="651690"/>
            <a:ext cx="60159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7069418" y="2900292"/>
            <a:ext cx="619063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 txBox="1"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25"/>
          <p:cNvSpPr txBox="1">
            <a:spLocks noGrp="1"/>
          </p:cNvSpPr>
          <p:nvPr>
            <p:ph type="body" idx="1"/>
          </p:nvPr>
        </p:nvSpPr>
        <p:spPr>
          <a:xfrm>
            <a:off x="1387278" y="3809278"/>
            <a:ext cx="5646143" cy="33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52" name="Google Shape;252;p25"/>
          <p:cNvSpPr txBox="1">
            <a:spLocks noGrp="1"/>
          </p:cNvSpPr>
          <p:nvPr>
            <p:ph type="body" idx="2"/>
          </p:nvPr>
        </p:nvSpPr>
        <p:spPr>
          <a:xfrm>
            <a:off x="866440" y="5000816"/>
            <a:ext cx="6343673" cy="1010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5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59" name="Google Shape;259;p2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6"/>
            <p:cNvSpPr/>
            <p:nvPr/>
          </p:nvSpPr>
          <p:spPr>
            <a:xfrm rot="-589932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 extrusionOk="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8" name="Google Shape;268;p26"/>
          <p:cNvSpPr txBox="1"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6"/>
          <p:cNvSpPr txBox="1"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26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6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body" idx="2"/>
          </p:nvPr>
        </p:nvSpPr>
        <p:spPr>
          <a:xfrm>
            <a:off x="866440" y="3147164"/>
            <a:ext cx="2313432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body" idx="3"/>
          </p:nvPr>
        </p:nvSpPr>
        <p:spPr>
          <a:xfrm>
            <a:off x="3405614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body" idx="4"/>
          </p:nvPr>
        </p:nvSpPr>
        <p:spPr>
          <a:xfrm>
            <a:off x="3408471" y="3147164"/>
            <a:ext cx="2318918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body" idx="5"/>
          </p:nvPr>
        </p:nvSpPr>
        <p:spPr>
          <a:xfrm>
            <a:off x="5958642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body" idx="6"/>
          </p:nvPr>
        </p:nvSpPr>
        <p:spPr>
          <a:xfrm>
            <a:off x="5960935" y="3147164"/>
            <a:ext cx="2316625" cy="288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82" name="Google Shape;282;p27"/>
          <p:cNvCxnSpPr/>
          <p:nvPr/>
        </p:nvCxnSpPr>
        <p:spPr>
          <a:xfrm>
            <a:off x="3294530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3" name="Google Shape;283;p27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27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7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7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8"/>
          <p:cNvSpPr txBox="1"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0" name="Google Shape;290;p28"/>
          <p:cNvSpPr>
            <a:spLocks noGrp="1"/>
          </p:cNvSpPr>
          <p:nvPr>
            <p:ph type="pic" idx="2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</p:sp>
      <p:sp>
        <p:nvSpPr>
          <p:cNvPr id="291" name="Google Shape;291;p28"/>
          <p:cNvSpPr txBox="1">
            <a:spLocks noGrp="1"/>
          </p:cNvSpPr>
          <p:nvPr>
            <p:ph type="body" idx="3"/>
          </p:nvPr>
        </p:nvSpPr>
        <p:spPr>
          <a:xfrm>
            <a:off x="866439" y="4837558"/>
            <a:ext cx="2313432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body" idx="4"/>
          </p:nvPr>
        </p:nvSpPr>
        <p:spPr>
          <a:xfrm>
            <a:off x="3411125" y="4179595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3" name="Google Shape;293;p28"/>
          <p:cNvSpPr>
            <a:spLocks noGrp="1"/>
          </p:cNvSpPr>
          <p:nvPr>
            <p:ph type="pic" idx="5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</p:sp>
      <p:sp>
        <p:nvSpPr>
          <p:cNvPr id="294" name="Google Shape;294;p28"/>
          <p:cNvSpPr txBox="1">
            <a:spLocks noGrp="1"/>
          </p:cNvSpPr>
          <p:nvPr>
            <p:ph type="body" idx="6"/>
          </p:nvPr>
        </p:nvSpPr>
        <p:spPr>
          <a:xfrm>
            <a:off x="3411125" y="484820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body" idx="7"/>
          </p:nvPr>
        </p:nvSpPr>
        <p:spPr>
          <a:xfrm>
            <a:off x="5958642" y="4179596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0">
                <a:solidFill>
                  <a:srgbClr val="EE52A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96" name="Google Shape;296;p28"/>
          <p:cNvSpPr>
            <a:spLocks noGrp="1"/>
          </p:cNvSpPr>
          <p:nvPr>
            <p:ph type="pic" idx="8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1960"/>
              </a:srgbClr>
            </a:outerShdw>
          </a:effectLst>
        </p:spPr>
      </p:sp>
      <p:sp>
        <p:nvSpPr>
          <p:cNvPr id="297" name="Google Shape;297;p28"/>
          <p:cNvSpPr txBox="1">
            <a:spLocks noGrp="1"/>
          </p:cNvSpPr>
          <p:nvPr>
            <p:ph type="body" idx="9"/>
          </p:nvPr>
        </p:nvSpPr>
        <p:spPr>
          <a:xfrm>
            <a:off x="5958642" y="483755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98" name="Google Shape;298;p28"/>
          <p:cNvCxnSpPr/>
          <p:nvPr/>
        </p:nvCxnSpPr>
        <p:spPr>
          <a:xfrm>
            <a:off x="3290019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9" name="Google Shape;299;p28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0" name="Google Shape;300;p28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body" idx="1"/>
          </p:nvPr>
        </p:nvSpPr>
        <p:spPr>
          <a:xfrm rot="5400000">
            <a:off x="2271712" y="1081870"/>
            <a:ext cx="3530600" cy="63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06" name="Google Shape;306;p29"/>
          <p:cNvSpPr txBox="1">
            <a:spLocks noGrp="1"/>
          </p:cNvSpPr>
          <p:nvPr>
            <p:ph type="dt" idx="10"/>
          </p:nvPr>
        </p:nvSpPr>
        <p:spPr>
          <a:xfrm>
            <a:off x="7621301" y="638791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ftr" idx="11"/>
          </p:nvPr>
        </p:nvSpPr>
        <p:spPr>
          <a:xfrm>
            <a:off x="516133" y="6387910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9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30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311" name="Google Shape;311;p3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0"/>
            <p:cNvSpPr/>
            <p:nvPr/>
          </p:nvSpPr>
          <p:spPr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30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/>
          <p:nvPr/>
        </p:nvSpPr>
        <p:spPr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l" t="t" r="r" b="b"/>
            <a:pathLst>
              <a:path w="4960" h="2752" extrusionOk="0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20" name="Google Shape;320;p3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5760" h="4320" extrusionOk="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1" name="Google Shape;321;p30"/>
          <p:cNvSpPr txBox="1">
            <a:spLocks noGrp="1"/>
          </p:cNvSpPr>
          <p:nvPr>
            <p:ph type="title"/>
          </p:nvPr>
        </p:nvSpPr>
        <p:spPr>
          <a:xfrm rot="5400000">
            <a:off x="4445685" y="3177041"/>
            <a:ext cx="4572001" cy="111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30"/>
          <p:cNvSpPr txBox="1">
            <a:spLocks noGrp="1"/>
          </p:cNvSpPr>
          <p:nvPr>
            <p:ph type="body" idx="1"/>
          </p:nvPr>
        </p:nvSpPr>
        <p:spPr>
          <a:xfrm rot="5400000">
            <a:off x="789205" y="1525331"/>
            <a:ext cx="4572001" cy="441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23" name="Google Shape;323;p30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0"/>
          <p:cNvSpPr txBox="1">
            <a:spLocks noGrp="1"/>
          </p:cNvSpPr>
          <p:nvPr>
            <p:ph type="ftr" idx="11"/>
          </p:nvPr>
        </p:nvSpPr>
        <p:spPr>
          <a:xfrm>
            <a:off x="538546" y="636549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1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82" name="Google Shape;82;p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 l="-16708" r="-16981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058"/>
                  </a:srgbClr>
                </a:gs>
                <a:gs pos="36000">
                  <a:srgbClr val="9B6BF2">
                    <a:alpha val="7058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5882"/>
                  </a:srgbClr>
                </a:gs>
                <a:gs pos="36000">
                  <a:srgbClr val="9B6BF2">
                    <a:alpha val="5098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2941"/>
                  </a:srgbClr>
                </a:gs>
                <a:gs pos="36000">
                  <a:srgbClr val="9B6BF2">
                    <a:alpha val="5882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196"/>
                  </a:srgbClr>
                </a:gs>
                <a:gs pos="36000">
                  <a:srgbClr val="9B6BF2">
                    <a:alpha val="9019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 rot="-589932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l" t="t" r="r" b="b"/>
              <a:pathLst>
                <a:path w="4960" h="2752" extrusionOk="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0" name="Google Shape;90;p13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5760" h="4320" extrusionOk="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392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>
            <a:spLocks noGrp="1"/>
          </p:cNvSpPr>
          <p:nvPr>
            <p:ph type="ctrTitle"/>
          </p:nvPr>
        </p:nvSpPr>
        <p:spPr>
          <a:xfrm>
            <a:off x="1652954" y="1297200"/>
            <a:ext cx="6858000" cy="2599964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br>
              <a:rPr lang="en-US" b="1">
                <a:latin typeface="Arial"/>
                <a:ea typeface="Arial"/>
                <a:cs typeface="Arial"/>
                <a:sym typeface="Arial"/>
              </a:rPr>
            </a:br>
            <a:br>
              <a:rPr lang="en-US" b="1">
                <a:latin typeface="Arial"/>
                <a:ea typeface="Arial"/>
                <a:cs typeface="Arial"/>
                <a:sym typeface="Arial"/>
              </a:rPr>
            </a:b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Dr June Chiang</a:t>
            </a:r>
            <a:br>
              <a:rPr lang="en-US" b="1"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chiangks@tarc.edu.my</a:t>
            </a:r>
            <a:br>
              <a:rPr lang="en-US" b="1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b="1"/>
              <a:t>ATTENDANCE</a:t>
            </a:r>
            <a:endParaRPr/>
          </a:p>
        </p:txBody>
      </p:sp>
      <p:sp>
        <p:nvSpPr>
          <p:cNvPr id="337" name="Google Shape;337;p3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LESS THAN 80% ATTENDANCE, CONSIDERED FOR BARRING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>
            <a:spLocks noGrp="1"/>
          </p:cNvSpPr>
          <p:nvPr>
            <p:ph type="body" idx="1"/>
          </p:nvPr>
        </p:nvSpPr>
        <p:spPr>
          <a:xfrm>
            <a:off x="78377" y="965018"/>
            <a:ext cx="8964386" cy="4957355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endParaRPr sz="6600" dirty="0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endParaRPr sz="6600" dirty="0">
              <a:solidFill>
                <a:srgbClr val="0070C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70C0"/>
              </a:buClr>
              <a:buSzPts val="6600"/>
              <a:buNone/>
            </a:pPr>
            <a:r>
              <a:rPr lang="en-US" sz="6600" dirty="0">
                <a:solidFill>
                  <a:srgbClr val="0070C0"/>
                </a:solidFill>
              </a:rPr>
              <a:t>Continuous Assessment (CA) 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</a:pPr>
            <a:endParaRPr sz="135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>
            <a:spLocks noGrp="1"/>
          </p:cNvSpPr>
          <p:nvPr>
            <p:ph type="ctrTitle"/>
          </p:nvPr>
        </p:nvSpPr>
        <p:spPr>
          <a:xfrm>
            <a:off x="1601670" y="1322768"/>
            <a:ext cx="5884980" cy="162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500"/>
              <a:buFont typeface="Algerian"/>
              <a:buNone/>
            </a:pPr>
            <a:r>
              <a:rPr lang="en-US" b="1">
                <a:solidFill>
                  <a:srgbClr val="FF0000"/>
                </a:solidFill>
                <a:latin typeface="Algerian"/>
                <a:ea typeface="Algerian"/>
                <a:cs typeface="Algerian"/>
                <a:sym typeface="Algerian"/>
              </a:rPr>
              <a:t>Today’s lesson</a:t>
            </a:r>
            <a:br>
              <a:rPr lang="en-US" b="1">
                <a:solidFill>
                  <a:srgbClr val="FF0000"/>
                </a:solidFill>
                <a:latin typeface="Algerian"/>
                <a:ea typeface="Algerian"/>
                <a:cs typeface="Algerian"/>
                <a:sym typeface="Algerian"/>
              </a:rPr>
            </a:br>
            <a:r>
              <a:rPr lang="en-US" b="1">
                <a:solidFill>
                  <a:srgbClr val="0070C0"/>
                </a:solidFill>
              </a:rPr>
              <a:t>PROPOSAL WRITING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348" name="Google Shape;348;p34"/>
          <p:cNvSpPr txBox="1">
            <a:spLocks noGrp="1"/>
          </p:cNvSpPr>
          <p:nvPr>
            <p:ph type="subTitle" idx="1"/>
          </p:nvPr>
        </p:nvSpPr>
        <p:spPr>
          <a:xfrm>
            <a:off x="2171700" y="3266982"/>
            <a:ext cx="4800600" cy="1819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dk1"/>
                </a:solidFill>
              </a:rPr>
              <a:t>WHAT IS A PROPOSAL?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b="1">
                <a:solidFill>
                  <a:srgbClr val="FF0000"/>
                </a:solidFill>
              </a:rPr>
              <a:t>A PROPOSAL IS WRITTEN TO PROPOSE SOMETHING. </a:t>
            </a:r>
            <a:endParaRPr b="1">
              <a:solidFill>
                <a:srgbClr val="FF000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b="1">
                <a:solidFill>
                  <a:schemeClr val="dk1"/>
                </a:solidFill>
              </a:rPr>
              <a:t>WHAT DO YOU MEAN BY TO PROPOSE?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b="1">
                <a:solidFill>
                  <a:srgbClr val="FF0000"/>
                </a:solidFill>
              </a:rPr>
              <a:t>TO PROPOSE MEANS TO OFFER/SUGGEST.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>
            <a:spLocks noGrp="1"/>
          </p:cNvSpPr>
          <p:nvPr>
            <p:ph type="body" idx="1"/>
          </p:nvPr>
        </p:nvSpPr>
        <p:spPr>
          <a:xfrm>
            <a:off x="1485900" y="1106743"/>
            <a:ext cx="6172200" cy="434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None/>
            </a:pPr>
            <a:r>
              <a:rPr lang="en-US" sz="3000" b="1" dirty="0">
                <a:solidFill>
                  <a:srgbClr val="0070C0"/>
                </a:solidFill>
              </a:rPr>
              <a:t>THINK ABOUT THESE QUESTIONS:</a:t>
            </a:r>
            <a:endParaRPr sz="3000" b="1" dirty="0">
              <a:solidFill>
                <a:srgbClr val="0070C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 sz="3000" b="1" dirty="0">
              <a:solidFill>
                <a:srgbClr val="0070C0"/>
              </a:solidFill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b="1" dirty="0"/>
              <a:t>WHOM DO YOU WRITE PROPOSALS TO? </a:t>
            </a:r>
            <a:endParaRPr b="1" dirty="0"/>
          </a:p>
          <a:p>
            <a:pPr marL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b="1" dirty="0"/>
              <a:t>Superiors (manager, heads of departments, general managers, directors), other companies, government, banks, investors, business partners, clients </a:t>
            </a:r>
            <a:endParaRPr b="1" dirty="0"/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b="1" dirty="0"/>
              <a:t>WHY DO YOU WRITE PROPOSALS? LIST OUT THE REASONS. </a:t>
            </a:r>
            <a:r>
              <a:rPr lang="en-US" b="1" dirty="0">
                <a:solidFill>
                  <a:srgbClr val="FF0000"/>
                </a:solidFill>
              </a:rPr>
              <a:t>E.G. TO PROVIDE SERVICES.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subTitle" idx="1"/>
          </p:nvPr>
        </p:nvSpPr>
        <p:spPr>
          <a:xfrm>
            <a:off x="1040475" y="2893825"/>
            <a:ext cx="7239000" cy="14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32"/>
              <a:buNone/>
            </a:pPr>
            <a:r>
              <a:rPr lang="en-US" sz="5040" b="1">
                <a:solidFill>
                  <a:schemeClr val="lt1"/>
                </a:solidFill>
              </a:rPr>
              <a:t>BUSINESS PROPOSALS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haroni"/>
              <a:buNone/>
            </a:pPr>
            <a:r>
              <a:rPr lang="en-US" sz="4000" b="1">
                <a:latin typeface="Aharoni"/>
                <a:ea typeface="Aharoni"/>
                <a:cs typeface="Aharoni"/>
                <a:sym typeface="Aharoni"/>
              </a:rPr>
              <a:t>Overview</a:t>
            </a:r>
            <a:endParaRPr/>
          </a:p>
        </p:txBody>
      </p:sp>
      <p:sp>
        <p:nvSpPr>
          <p:cNvPr id="364" name="Google Shape;364;p37"/>
          <p:cNvSpPr txBox="1">
            <a:spLocks noGrp="1"/>
          </p:cNvSpPr>
          <p:nvPr>
            <p:ph type="body" idx="1"/>
          </p:nvPr>
        </p:nvSpPr>
        <p:spPr>
          <a:xfrm>
            <a:off x="609600" y="2136010"/>
            <a:ext cx="8229600" cy="4711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What is a Proposal?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 importance of Proposals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Types of Proposal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Purpose of Proposals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Standard Format of Proposals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   </a:t>
            </a:r>
            <a:r>
              <a:rPr lang="en-US">
                <a:solidFill>
                  <a:srgbClr val="70186D"/>
                </a:solidFill>
              </a:rPr>
              <a:t>a) Introduction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70186D"/>
                </a:solidFill>
              </a:rPr>
              <a:t>   b) Background, Problem, Purpose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70186D"/>
                </a:solidFill>
              </a:rPr>
              <a:t>   c) Proposal, Plan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70186D"/>
                </a:solidFill>
              </a:rPr>
              <a:t>   d) Staffing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70186D"/>
                </a:solidFill>
              </a:rPr>
              <a:t>   e) Budget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>
                <a:solidFill>
                  <a:srgbClr val="70186D"/>
                </a:solidFill>
              </a:rPr>
              <a:t>   f) Authorisation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lang="en-US" sz="3600" b="1"/>
              <a:t>What is a Proposal?</a:t>
            </a:r>
            <a:endParaRPr/>
          </a:p>
        </p:txBody>
      </p:sp>
      <p:sp>
        <p:nvSpPr>
          <p:cNvPr id="370" name="Google Shape;370;p38"/>
          <p:cNvSpPr txBox="1">
            <a:spLocks noGrp="1"/>
          </p:cNvSpPr>
          <p:nvPr>
            <p:ph type="body" idx="1"/>
          </p:nvPr>
        </p:nvSpPr>
        <p:spPr>
          <a:xfrm>
            <a:off x="533400" y="2332037"/>
            <a:ext cx="8229600" cy="39925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Char char="►"/>
            </a:pPr>
            <a:r>
              <a:rPr lang="en-US" sz="3100" b="1"/>
              <a:t>A document that offers/suggests </a:t>
            </a:r>
            <a:r>
              <a:rPr lang="en-US" sz="3100" b="1">
                <a:solidFill>
                  <a:srgbClr val="70186D"/>
                </a:solidFill>
              </a:rPr>
              <a:t>a particular product, service, solution, etc. </a:t>
            </a:r>
            <a:r>
              <a:rPr lang="en-US" sz="3100" b="1"/>
              <a:t>to a </a:t>
            </a:r>
            <a:r>
              <a:rPr lang="en-US" sz="3100" b="1">
                <a:solidFill>
                  <a:srgbClr val="70186D"/>
                </a:solidFill>
              </a:rPr>
              <a:t>potential buyer or client or investor or superior.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endParaRPr sz="2900" b="1"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2000">
              <a:solidFill>
                <a:srgbClr val="FF0000"/>
              </a:solidFill>
            </a:endParaRPr>
          </a:p>
          <a:p>
            <a:pPr marL="342900" lvl="0" indent="-2413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DA2BF"/>
              </a:buClr>
              <a:buSzPts val="1600"/>
              <a:buNone/>
            </a:pP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DA2BF"/>
              </a:buClr>
              <a:buSzPts val="1600"/>
              <a:buNone/>
            </a:pP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 txBox="1"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 sz="4000" b="1"/>
              <a:t>What is a Proposal?</a:t>
            </a:r>
            <a:endParaRPr/>
          </a:p>
        </p:txBody>
      </p:sp>
      <p:sp>
        <p:nvSpPr>
          <p:cNvPr id="376" name="Google Shape;376;p39"/>
          <p:cNvSpPr txBox="1">
            <a:spLocks noGrp="1"/>
          </p:cNvSpPr>
          <p:nvPr>
            <p:ph type="body" idx="1"/>
          </p:nvPr>
        </p:nvSpPr>
        <p:spPr>
          <a:xfrm>
            <a:off x="864382" y="2489200"/>
            <a:ext cx="7746218" cy="3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is the most important document to help </a:t>
            </a:r>
            <a:r>
              <a:rPr lang="en-US" b="1">
                <a:solidFill>
                  <a:srgbClr val="70186D"/>
                </a:solidFill>
              </a:rPr>
              <a:t>bringing in business and revenue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for the company.</a:t>
            </a:r>
            <a:endParaRPr/>
          </a:p>
          <a:p>
            <a:pPr marL="342900" lvl="0" indent="-251459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helps getting </a:t>
            </a:r>
            <a:r>
              <a:rPr lang="en-US" b="1">
                <a:solidFill>
                  <a:srgbClr val="70186D"/>
                </a:solidFill>
              </a:rPr>
              <a:t>necessary funding </a:t>
            </a:r>
            <a:r>
              <a:rPr lang="en-US"/>
              <a:t>for projects.</a:t>
            </a:r>
            <a:endParaRPr/>
          </a:p>
          <a:p>
            <a:pPr marL="342900" lvl="0" indent="-251459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  <a:p>
            <a:pPr marL="342900" lvl="0" indent="-3429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It enables a potential recipient or client to evaluate whether the </a:t>
            </a:r>
            <a:r>
              <a:rPr lang="en-US" b="1">
                <a:solidFill>
                  <a:srgbClr val="70186D"/>
                </a:solidFill>
              </a:rPr>
              <a:t>writer or proposer </a:t>
            </a:r>
            <a:r>
              <a:rPr lang="en-US"/>
              <a:t>is the best person or company to do the project.</a:t>
            </a:r>
            <a:endParaRPr/>
          </a:p>
          <a:p>
            <a:pPr marL="342900" lvl="0" indent="-25145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/>
          <p:nvPr/>
        </p:nvSpPr>
        <p:spPr>
          <a:xfrm>
            <a:off x="3276600" y="2819400"/>
            <a:ext cx="2667000" cy="1371600"/>
          </a:xfrm>
          <a:prstGeom prst="rect">
            <a:avLst/>
          </a:prstGeom>
          <a:solidFill>
            <a:srgbClr val="2C2442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Purpose of proposals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40"/>
          <p:cNvCxnSpPr/>
          <p:nvPr/>
        </p:nvCxnSpPr>
        <p:spPr>
          <a:xfrm rot="10800000">
            <a:off x="2855694" y="2362994"/>
            <a:ext cx="649506" cy="304006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3" name="Google Shape;383;p40"/>
          <p:cNvCxnSpPr/>
          <p:nvPr/>
        </p:nvCxnSpPr>
        <p:spPr>
          <a:xfrm flipH="1">
            <a:off x="2400300" y="4191000"/>
            <a:ext cx="876300" cy="345319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4" name="Google Shape;384;p40"/>
          <p:cNvCxnSpPr/>
          <p:nvPr/>
        </p:nvCxnSpPr>
        <p:spPr>
          <a:xfrm rot="-5400000" flipH="1">
            <a:off x="4419600" y="4533900"/>
            <a:ext cx="457200" cy="762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5" name="Google Shape;385;p40"/>
          <p:cNvCxnSpPr/>
          <p:nvPr/>
        </p:nvCxnSpPr>
        <p:spPr>
          <a:xfrm rot="-5400000">
            <a:off x="4419600" y="2473287"/>
            <a:ext cx="457200" cy="1588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6" name="Google Shape;386;p40"/>
          <p:cNvCxnSpPr/>
          <p:nvPr/>
        </p:nvCxnSpPr>
        <p:spPr>
          <a:xfrm rot="-5400000">
            <a:off x="6019800" y="2286000"/>
            <a:ext cx="533400" cy="5334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87" name="Google Shape;387;p40"/>
          <p:cNvCxnSpPr/>
          <p:nvPr/>
        </p:nvCxnSpPr>
        <p:spPr>
          <a:xfrm>
            <a:off x="5943600" y="4114800"/>
            <a:ext cx="723900" cy="304006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88" name="Google Shape;388;p40"/>
          <p:cNvSpPr/>
          <p:nvPr/>
        </p:nvSpPr>
        <p:spPr>
          <a:xfrm>
            <a:off x="703243" y="1367592"/>
            <a:ext cx="1905000" cy="2133600"/>
          </a:xfrm>
          <a:prstGeom prst="rect">
            <a:avLst/>
          </a:prstGeom>
          <a:solidFill>
            <a:srgbClr val="262626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To solve problems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609600" y="4059715"/>
            <a:ext cx="1828800" cy="2133600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To provide services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0"/>
          <p:cNvSpPr/>
          <p:nvPr/>
        </p:nvSpPr>
        <p:spPr>
          <a:xfrm>
            <a:off x="3430836" y="856835"/>
            <a:ext cx="2286000" cy="1447800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To sell products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0"/>
          <p:cNvSpPr/>
          <p:nvPr/>
        </p:nvSpPr>
        <p:spPr>
          <a:xfrm>
            <a:off x="6705600" y="1367592"/>
            <a:ext cx="1828800" cy="1756608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To seek approval to do a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6829540" y="4059715"/>
            <a:ext cx="1752600" cy="2286000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To seek funding for a new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3429000" y="4953000"/>
            <a:ext cx="2514600" cy="1371600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rgbClr val="820C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To enhance an existing condition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 txBox="1">
            <a:spLocks noGrp="1"/>
          </p:cNvSpPr>
          <p:nvPr>
            <p:ph type="body" idx="1"/>
          </p:nvPr>
        </p:nvSpPr>
        <p:spPr>
          <a:xfrm>
            <a:off x="457200" y="228600"/>
            <a:ext cx="8229600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5145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  <p:sp>
        <p:nvSpPr>
          <p:cNvPr id="399" name="Google Shape;399;p41"/>
          <p:cNvSpPr/>
          <p:nvPr/>
        </p:nvSpPr>
        <p:spPr>
          <a:xfrm>
            <a:off x="2971800" y="2743200"/>
            <a:ext cx="3048000" cy="1295400"/>
          </a:xfrm>
          <a:prstGeom prst="ellipse">
            <a:avLst/>
          </a:prstGeom>
          <a:solidFill>
            <a:srgbClr val="FFFF00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 of Proposals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41"/>
          <p:cNvCxnSpPr/>
          <p:nvPr/>
        </p:nvCxnSpPr>
        <p:spPr>
          <a:xfrm rot="10800000">
            <a:off x="2960323" y="2432891"/>
            <a:ext cx="685800" cy="3810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01" name="Google Shape;401;p41"/>
          <p:cNvCxnSpPr/>
          <p:nvPr/>
        </p:nvCxnSpPr>
        <p:spPr>
          <a:xfrm rot="10800000" flipH="1">
            <a:off x="5286719" y="2382855"/>
            <a:ext cx="609600" cy="4572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02" name="Google Shape;402;p41"/>
          <p:cNvCxnSpPr/>
          <p:nvPr/>
        </p:nvCxnSpPr>
        <p:spPr>
          <a:xfrm flipH="1">
            <a:off x="2853369" y="3924299"/>
            <a:ext cx="685800" cy="533400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03" name="Google Shape;403;p41"/>
          <p:cNvCxnSpPr/>
          <p:nvPr/>
        </p:nvCxnSpPr>
        <p:spPr>
          <a:xfrm>
            <a:off x="5410200" y="3886200"/>
            <a:ext cx="609600" cy="571499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04" name="Google Shape;404;p41"/>
          <p:cNvSpPr/>
          <p:nvPr/>
        </p:nvSpPr>
        <p:spPr>
          <a:xfrm>
            <a:off x="533400" y="452380"/>
            <a:ext cx="3429000" cy="1944477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Century Gothic"/>
              <a:buAutoNum type="arabicPeriod"/>
            </a:pPr>
            <a:r>
              <a:rPr lang="en-US" sz="1800" b="1" i="0" u="none" strike="noStrike" cap="non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Internal Proposals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written by proposer to  someone within organisation</a:t>
            </a: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41"/>
          <p:cNvSpPr/>
          <p:nvPr/>
        </p:nvSpPr>
        <p:spPr>
          <a:xfrm>
            <a:off x="5286719" y="460642"/>
            <a:ext cx="3378965" cy="1893064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External Proposals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C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written by proposer from one company to a recipient from another company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1"/>
          <p:cNvSpPr/>
          <p:nvPr/>
        </p:nvSpPr>
        <p:spPr>
          <a:xfrm>
            <a:off x="762000" y="4541244"/>
            <a:ext cx="3352800" cy="1943101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Solicited Proposals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Written based on a request made by the proposal’s recipient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5286719" y="4515998"/>
            <a:ext cx="3200400" cy="1981200"/>
          </a:xfrm>
          <a:prstGeom prst="rect">
            <a:avLst/>
          </a:prstGeom>
          <a:solidFill>
            <a:schemeClr val="dk1"/>
          </a:solidFill>
          <a:ln w="190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Unsolicited Proposals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FF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Initiated by proposer without any request from the recipient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2"/>
          <p:cNvSpPr txBox="1">
            <a:spLocks noGrp="1"/>
          </p:cNvSpPr>
          <p:nvPr>
            <p:ph type="body" idx="1"/>
          </p:nvPr>
        </p:nvSpPr>
        <p:spPr>
          <a:xfrm>
            <a:off x="864374" y="2489200"/>
            <a:ext cx="7349400" cy="3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Source: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Essentials of professional communication: Science &amp; Engineering (2018), Cengage Learning, Singapore.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376</Words>
  <Application>Microsoft Office PowerPoint</Application>
  <PresentationFormat>On-screen Show (4:3)</PresentationFormat>
  <Paragraphs>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Noto Sans Symbols</vt:lpstr>
      <vt:lpstr>Roboto</vt:lpstr>
      <vt:lpstr>Algerian</vt:lpstr>
      <vt:lpstr>Century Gothic</vt:lpstr>
      <vt:lpstr>Calibri</vt:lpstr>
      <vt:lpstr>Aharoni</vt:lpstr>
      <vt:lpstr>Office Theme</vt:lpstr>
      <vt:lpstr>Ion Boardroom</vt:lpstr>
      <vt:lpstr>  Dr June Chiang chiangks@tarc.edu.my </vt:lpstr>
      <vt:lpstr>ATTENDANCE</vt:lpstr>
      <vt:lpstr>PowerPoint Presentation</vt:lpstr>
      <vt:lpstr>Today’s lesson PROPOSAL WRITING</vt:lpstr>
      <vt:lpstr>PowerPoint Presentation</vt:lpstr>
      <vt:lpstr>PowerPoint Presentation</vt:lpstr>
      <vt:lpstr>Overview</vt:lpstr>
      <vt:lpstr>What is a Proposal?</vt:lpstr>
      <vt:lpstr>What is a Proposal?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Dr June Chiang chiangks@tarc.edu.my </dc:title>
  <dc:creator>TAR UMT</dc:creator>
  <cp:lastModifiedBy>June Chiang</cp:lastModifiedBy>
  <cp:revision>2</cp:revision>
  <dcterms:modified xsi:type="dcterms:W3CDTF">2025-11-09T09:09:30Z</dcterms:modified>
</cp:coreProperties>
</file>